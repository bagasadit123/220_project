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206240" cy="4206240"/>
          </a:xfrm>
          <a:prstGeom prst="ellipse">
            <a:avLst/>
          </a:prstGeom>
          <a:solidFill>
            <a:srgbClr val="2E7CF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65760"/>
            <a:ext cx="2377440" cy="237744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2E7CF6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051560"/>
            <a:ext cx="3337560" cy="384048"/>
          </a:xfrm>
          <a:prstGeom prst="roundRect">
            <a:avLst>
              <a:gd name="adj" fmla="val 50000"/>
            </a:avLst>
          </a:prstGeom>
          <a:solidFill>
            <a:srgbClr val="17315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C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PROYEK PENGEMBANGAN WEB SERVICE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160020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CampusVehicle</a:t>
            </a:r>
            <a:endParaRPr lang="en-US" sz="5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6F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API Service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D6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penyedia data emisi &amp; efisiensi kendaraan kampus — dilengkapi autentikasi JWT, manajemen API key, dan public API siap pakai bagi konsumen eksternal.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4892040"/>
            <a:ext cx="1056132" cy="402336"/>
          </a:xfrm>
          <a:prstGeom prst="roundRect">
            <a:avLst>
              <a:gd name="adj" fmla="val 50000"/>
            </a:avLst>
          </a:prstGeom>
          <a:solidFill>
            <a:srgbClr val="173154"/>
          </a:solidFill>
          <a:ln w="12700">
            <a:solidFill>
              <a:srgbClr val="2C4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892040"/>
            <a:ext cx="10561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D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34540" y="4892040"/>
            <a:ext cx="1248156" cy="402336"/>
          </a:xfrm>
          <a:prstGeom prst="roundRect">
            <a:avLst>
              <a:gd name="adj" fmla="val 50000"/>
            </a:avLst>
          </a:prstGeom>
          <a:solidFill>
            <a:srgbClr val="173154"/>
          </a:solidFill>
          <a:ln w="12700">
            <a:solidFill>
              <a:srgbClr val="2C4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34540" y="4892040"/>
            <a:ext cx="12481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D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5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83864" y="4892040"/>
            <a:ext cx="1344168" cy="402336"/>
          </a:xfrm>
          <a:prstGeom prst="roundRect">
            <a:avLst>
              <a:gd name="adj" fmla="val 50000"/>
            </a:avLst>
          </a:prstGeom>
          <a:solidFill>
            <a:srgbClr val="173154"/>
          </a:solidFill>
          <a:ln w="12700">
            <a:solidFill>
              <a:srgbClr val="2C4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3864" y="4892040"/>
            <a:ext cx="1344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D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0" y="4892040"/>
            <a:ext cx="1632204" cy="402336"/>
          </a:xfrm>
          <a:prstGeom prst="roundRect">
            <a:avLst>
              <a:gd name="adj" fmla="val 50000"/>
            </a:avLst>
          </a:prstGeom>
          <a:solidFill>
            <a:srgbClr val="173154"/>
          </a:solidFill>
          <a:ln w="12700">
            <a:solidFill>
              <a:srgbClr val="2C4A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4892040"/>
            <a:ext cx="16322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D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Sequelize ORM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62572" y="4892040"/>
            <a:ext cx="1536192" cy="402336"/>
          </a:xfrm>
          <a:prstGeom prst="roundRect">
            <a:avLst>
              <a:gd name="adj" fmla="val 50000"/>
            </a:avLst>
          </a:prstGeom>
          <a:solidFill>
            <a:srgbClr val="173154"/>
          </a:solidFill>
          <a:ln w="12700">
            <a:solidFill>
              <a:srgbClr val="2C4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62572" y="4892040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D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+ bcrypt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99932" y="4892040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173154"/>
          </a:solidFill>
          <a:ln w="12700">
            <a:solidFill>
              <a:srgbClr val="2C4A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9932" y="4892040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D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 : github.com/bagasadit123/220_Project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7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 Presentasi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C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CampusVehicle SaaS API Service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72768"/>
            <a:ext cx="539496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181051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810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89888" y="1682496"/>
            <a:ext cx="4389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Deskripsi Proyek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Latar belakang &amp; solusi yang ditawarkan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63640" y="1572768"/>
            <a:ext cx="539496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64808" y="181051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E0F5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64808" y="1810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04888" y="1682496"/>
            <a:ext cx="4389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Teknologi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yang digunakan beserta perannya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2706624"/>
            <a:ext cx="539496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294436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E8F0FE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29443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89888" y="2816352"/>
            <a:ext cx="4389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Arsitektur &amp; Struktur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Pola MVC dan organisasi folder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263640" y="2706624"/>
            <a:ext cx="539496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64808" y="294436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E0F5F8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29443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04888" y="2816352"/>
            <a:ext cx="4389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Desain Database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Empat tabel utama dan relasinya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539496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07822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E8F0FE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0782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89888" y="3950208"/>
            <a:ext cx="4389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Fitur Unggulan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Auth, API key, CRUD, dan public API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263640" y="3840480"/>
            <a:ext cx="539496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64808" y="407822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E0F5F8"/>
          </a:solidFill>
          <a:ln/>
        </p:spPr>
      </p:sp>
      <p:sp>
        <p:nvSpPr>
          <p:cNvPr id="30" name="Text 28"/>
          <p:cNvSpPr/>
          <p:nvPr/>
        </p:nvSpPr>
        <p:spPr>
          <a:xfrm>
            <a:off x="6464808" y="40782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04888" y="3950208"/>
            <a:ext cx="4389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Keamanan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Alur verifikasi &amp; perlindungan data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548640" y="4974336"/>
            <a:ext cx="539496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9808" y="521208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E8F0FE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" y="5212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389888" y="5084064"/>
            <a:ext cx="4389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+ Supabase &amp; variabel lingkungan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263640" y="4974336"/>
            <a:ext cx="539496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64808" y="521208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E0F5F8"/>
          </a:solidFill>
          <a:ln/>
        </p:spPr>
      </p:sp>
      <p:sp>
        <p:nvSpPr>
          <p:cNvPr id="38" name="Text 36"/>
          <p:cNvSpPr/>
          <p:nvPr/>
        </p:nvSpPr>
        <p:spPr>
          <a:xfrm>
            <a:off x="6464808" y="5212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4888" y="5084064"/>
            <a:ext cx="4389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Dokumentasi API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Daftar lengkap endpoint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7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PENDAHULUAN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Deskripsi Proyek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C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CampusVehicle SaaS API Service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36192"/>
            <a:ext cx="548640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7556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CF1D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7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77393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Latar Belakang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" y="2286000"/>
            <a:ext cx="4983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kendaraan operasional kampus (emisi CO₂, efisiensi bahan bakar) tersebar dan sulit diakses pihak luar. Pengembang aplikasi butuh cara standar untuk memakai data tersebut tanpa akses langsung ke database.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536192"/>
            <a:ext cx="548640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17556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6F6EF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86600" y="177393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Solusi : API sebagai Layanan (SaaS)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19672" y="2286000"/>
            <a:ext cx="4983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Seluruh data dikemas menjadi REST API. Pemilik data mengelolanya lewat dashboard ber-JWT, sedangkan konsumen eksternal berlangganan akses read-only menggunakan API key.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11201400" cy="1737360"/>
          </a:xfrm>
          <a:prstGeom prst="roundRect">
            <a:avLst>
              <a:gd name="adj" fmla="val 3684"/>
            </a:avLst>
          </a:prstGeom>
          <a:solidFill>
            <a:srgbClr val="10243E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4370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F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NILAI JUAL PRODUK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" y="4681728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Siap Pakai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B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Konsumen tinggal memakai endpoint, tanpa setup database.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26280" y="4681728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Terukur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B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Setiap pemakaian API key tercatat: jumlah request &amp; waktu terakhir.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83880" y="4681728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Aman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B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 lapis kunci: JWT untuk admin, x-api-key untuk konsumen.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7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TEKNOLOGI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 yang Digunakan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C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CampusVehicle SaaS API Service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1773936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77393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44752" y="1682496"/>
            <a:ext cx="43434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+ Express 5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server HTTP. Menangani routing, middleware, dan response JSON.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64808" y="1773936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0F5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64808" y="177393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59752" y="1682496"/>
            <a:ext cx="43434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+ Sequelize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relasional dengan ORM — skema didefinisikan lewat model JavaScript.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035808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25526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6F6EF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2552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44752" y="3163824"/>
            <a:ext cx="43434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(jsonwebtoken)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login untuk dashboard pemilik data, kedaluwarsa 1 hari (dari .env).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263640" y="3035808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64808" y="325526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FCF1DF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32552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7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59752" y="3163824"/>
            <a:ext cx="43434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bcryptjs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Hashing password sebelum disimpan — password asli tidak pernah tersimpan.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4517136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73659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FBEAE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7365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44752" y="4645152"/>
            <a:ext cx="43434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 (bawaan Node)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Generator API key acak 32 karakter hex untuk tiap konsumen.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263640" y="4517136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64808" y="473659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30" name="Text 28"/>
          <p:cNvSpPr/>
          <p:nvPr/>
        </p:nvSpPr>
        <p:spPr>
          <a:xfrm>
            <a:off x="6464808" y="47365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59752" y="4645152"/>
            <a:ext cx="43434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+ Supabase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 serverless untuk API dan database PostgreSQL cloud dengan SSL.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7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ARSITEKTUR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Alur Request — Pola MVC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C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CampusVehicle SaaS API Service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Setiap request mengikuti alur yang sama dan konsisten, sehingga mudah dirawat dan dikembangkan: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10243E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63500" dist="25400" dir="5400000">
              <a:srgbClr val="8FA0B5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148840"/>
            <a:ext cx="1627632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9CB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Postman / Aplikasi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203704" y="2555748"/>
            <a:ext cx="384048" cy="237744"/>
          </a:xfrm>
          <a:prstGeom prst="rightArrow">
            <a:avLst/>
          </a:prstGeom>
          <a:solidFill>
            <a:srgbClr val="2E7CF6"/>
          </a:solidFill>
          <a:ln/>
        </p:spPr>
      </p:sp>
      <p:sp>
        <p:nvSpPr>
          <p:cNvPr id="12" name="Shape 10"/>
          <p:cNvSpPr/>
          <p:nvPr/>
        </p:nvSpPr>
        <p:spPr>
          <a:xfrm>
            <a:off x="2505456" y="214884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63500" dist="25400" dir="5400000">
              <a:srgbClr val="8FA0B5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05456" y="2148840"/>
            <a:ext cx="1627632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 → router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60520" y="2555748"/>
            <a:ext cx="384048" cy="237744"/>
          </a:xfrm>
          <a:prstGeom prst="rightArrow">
            <a:avLst/>
          </a:prstGeom>
          <a:solidFill>
            <a:srgbClr val="2E7C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62272" y="214884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63500" dist="25400" dir="5400000">
              <a:srgbClr val="8FA0B5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62272" y="2148840"/>
            <a:ext cx="1627632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Middleware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verifyJWT · verifyApiKey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17336" y="2555748"/>
            <a:ext cx="384048" cy="237744"/>
          </a:xfrm>
          <a:prstGeom prst="rightArrow">
            <a:avLst/>
          </a:prstGeom>
          <a:solidFill>
            <a:srgbClr val="2E7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419088" y="214884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63500" dist="25400" dir="5400000">
              <a:srgbClr val="8FA0B5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19088" y="2148840"/>
            <a:ext cx="1627632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Logika bisnis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74152" y="2555748"/>
            <a:ext cx="384048" cy="237744"/>
          </a:xfrm>
          <a:prstGeom prst="rightArrow">
            <a:avLst/>
          </a:prstGeom>
          <a:solidFill>
            <a:srgbClr val="2E7CF6"/>
          </a:solidFill>
          <a:ln/>
        </p:spPr>
      </p:sp>
      <p:sp>
        <p:nvSpPr>
          <p:cNvPr id="21" name="Shape 19"/>
          <p:cNvSpPr/>
          <p:nvPr/>
        </p:nvSpPr>
        <p:spPr>
          <a:xfrm>
            <a:off x="8375904" y="214884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63500" dist="25400" dir="5400000">
              <a:srgbClr val="8FA0B5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75904" y="2148840"/>
            <a:ext cx="1627632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Sequelize ORM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030968" y="2555748"/>
            <a:ext cx="384048" cy="237744"/>
          </a:xfrm>
          <a:prstGeom prst="rightArrow">
            <a:avLst/>
          </a:prstGeom>
          <a:solidFill>
            <a:srgbClr val="2E7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32720" y="214884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E6F6E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63500" dist="25400" dir="5400000">
              <a:srgbClr val="8FA0B5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332720" y="2148840"/>
            <a:ext cx="1627632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/ Lokal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280160" y="3520440"/>
            <a:ext cx="9509760" cy="274320"/>
          </a:xfrm>
          <a:prstGeom prst="leftArrow">
            <a:avLst/>
          </a:prstGeom>
          <a:solidFill>
            <a:srgbClr val="06B6D4">
              <a:alpha val="7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280160" y="3840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 JSON terstandar : { status, message, data }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54864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04672" y="4617720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Jalur Dashboard — verifyJWT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 Authorization: Bearer &lt;token&gt;. Dipakai untuk fitur berbasis login: kelola API key dan CRUD data kendaraan.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263640" y="4434840"/>
            <a:ext cx="54864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19672" y="4617720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Jalur Publik — verifyApiKey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 x-api-key. Produk utama SaaS: konsumen eksternal membaca data lewat /api/v1 tanpa akun.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7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ORGANISASI KODE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Struktur Folder Proyek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C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CampusVehicle SaaS API Service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17904"/>
            <a:ext cx="6675120" cy="457200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737360"/>
            <a:ext cx="6217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2E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220_Project/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index.js            Entry point server Express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vercel.json         Konfigurasi deploy Vercel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routes/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index.js        Definisi seluruh endpoint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controller/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authController.js      Register &amp; login (JWT)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apiKeyController.js    Buat / lihat / revoke key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vehicleController.js   CRUD data kendaraan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dataController.js      Public API v1 + statistik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middleware/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auth.js                Verifikasi token JWT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apiKeyAuth.js          Verifikasi x-api-key + logging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models/             User, ApiKey, CampusVehicle, ApiRequestLog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config/             Koneksi database (db.js, config.js)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migrations/ seeders/ Migrasi skema &amp; data awal kendaraan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utils/               generateApiKey.js (crypto)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diagrams/           ERD, use case, activity (Mermaid)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52360" y="1517904"/>
            <a:ext cx="4297680" cy="4572000"/>
          </a:xfrm>
          <a:prstGeom prst="roundRect">
            <a:avLst>
              <a:gd name="adj" fmla="val 1489"/>
            </a:avLst>
          </a:prstGeom>
          <a:solidFill>
            <a:srgbClr val="10243E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2668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F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KENAPA RAPI ITU PENTING?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26680" y="219456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Pisahkan tanggung jawab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B9CB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hanya menerima, controller yang berpikir, model yang bicara ke database.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26680" y="3456432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Mudah ditambah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B9CB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Fitur baru cukup tambah 1 controller + 1 blok route.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26680" y="4718304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Mudah dites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B9CB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Tiap bagian bisa diuji terpisah lewat Postman.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7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Desain Database — 4 Tabel Utama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C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CampusVehicle SaaS API Service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39496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719072"/>
            <a:ext cx="2148840" cy="402336"/>
          </a:xfrm>
          <a:prstGeom prst="roundRect">
            <a:avLst>
              <a:gd name="adj" fmla="val 20455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1907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1719072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Akun pemilik data / admin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2231136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(PK)</a:t>
            </a:r>
            <a:endParaRPr lang="en-US" sz="1050" dirty="0"/>
          </a:p>
          <a:p>
            <a:pPr marL="127000" indent="-1270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</a:t>
            </a:r>
            <a:endParaRPr lang="en-US" sz="1050" dirty="0"/>
          </a:p>
          <a:p>
            <a:pPr marL="127000" indent="-1270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 · unik</a:t>
            </a:r>
            <a:endParaRPr lang="en-US" sz="1050" dirty="0"/>
          </a:p>
          <a:p>
            <a:pPr marL="127000" indent="-1270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 · hash bcrypt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1554480"/>
            <a:ext cx="539496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1719072"/>
            <a:ext cx="2148840" cy="402336"/>
          </a:xfrm>
          <a:prstGeom prst="roundRect">
            <a:avLst>
              <a:gd name="adj" fmla="val 20455"/>
            </a:avLst>
          </a:prstGeom>
          <a:solidFill>
            <a:srgbClr val="E0F5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71907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32520" y="1719072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Kunci akses milik tiap user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19672" y="2231136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(PK)</a:t>
            </a:r>
            <a:endParaRPr lang="en-US" sz="1050" dirty="0"/>
          </a:p>
          <a:p>
            <a:pPr marL="127000" indent="-1270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 (FK → users)</a:t>
            </a:r>
            <a:endParaRPr lang="en-US" sz="1050" dirty="0"/>
          </a:p>
          <a:p>
            <a:pPr marL="127000" indent="-1270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 · unik, 32 hex</a:t>
            </a:r>
            <a:endParaRPr lang="en-US" sz="1050" dirty="0"/>
          </a:p>
          <a:p>
            <a:pPr marL="127000" indent="-1270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· is_active</a:t>
            </a:r>
            <a:endParaRPr lang="en-US" sz="1050" dirty="0"/>
          </a:p>
          <a:p>
            <a:pPr marL="127000" indent="-1270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request_count · last_used_at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539496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959352"/>
            <a:ext cx="2148840" cy="402336"/>
          </a:xfrm>
          <a:prstGeom prst="roundRect">
            <a:avLst>
              <a:gd name="adj" fmla="val 20455"/>
            </a:avLst>
          </a:prstGeom>
          <a:solidFill>
            <a:srgbClr val="E6F6E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5935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campus_vehicles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3959352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inti yang dijual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4471416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(PK)</a:t>
            </a:r>
            <a:endParaRPr lang="en-US" sz="1050" dirty="0"/>
          </a:p>
          <a:p>
            <a:pPr marL="127000" indent="-1270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kategori · tipe_kendaraan</a:t>
            </a:r>
            <a:endParaRPr lang="en-US" sz="1050" dirty="0"/>
          </a:p>
          <a:p>
            <a:pPr marL="127000" indent="-1270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kapasitas_cc · bahan_bakar</a:t>
            </a:r>
            <a:endParaRPr lang="en-US" sz="1050" dirty="0"/>
          </a:p>
          <a:p>
            <a:pPr marL="127000" indent="-1270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efisiensi_km_per_liter</a:t>
            </a:r>
            <a:endParaRPr lang="en-US" sz="1050" dirty="0"/>
          </a:p>
          <a:p>
            <a:pPr marL="127000" indent="-1270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emisi_co2_per_km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3794760"/>
            <a:ext cx="539496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6520" y="3959352"/>
            <a:ext cx="2148840" cy="402336"/>
          </a:xfrm>
          <a:prstGeom prst="roundRect">
            <a:avLst>
              <a:gd name="adj" fmla="val 20455"/>
            </a:avLst>
          </a:prstGeom>
          <a:solidFill>
            <a:srgbClr val="FCF1DF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95935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7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api_request_logs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32520" y="3959352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Jejak audit tiap request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9672" y="4471416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(PK)</a:t>
            </a:r>
            <a:endParaRPr lang="en-US" sz="1050" dirty="0"/>
          </a:p>
          <a:p>
            <a:pPr marL="127000" indent="-1270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api_key_id  (FK → api_keys)</a:t>
            </a:r>
            <a:endParaRPr lang="en-US" sz="1050" dirty="0"/>
          </a:p>
          <a:p>
            <a:pPr marL="127000" indent="-1270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 · method</a:t>
            </a:r>
            <a:endParaRPr lang="en-US" sz="1050" dirty="0"/>
          </a:p>
          <a:p>
            <a:pPr marL="127000" indent="-1270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status_code · ip_address</a:t>
            </a:r>
            <a:endParaRPr lang="en-US" sz="1050" dirty="0"/>
          </a:p>
          <a:p>
            <a:pPr marL="127000" indent="-1270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requested_at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08960" y="5989320"/>
            <a:ext cx="5943600" cy="438912"/>
          </a:xfrm>
          <a:prstGeom prst="roundRect">
            <a:avLst>
              <a:gd name="adj" fmla="val 20833"/>
            </a:avLst>
          </a:prstGeom>
          <a:solidFill>
            <a:srgbClr val="10243E"/>
          </a:solidFill>
          <a:ln/>
        </p:spPr>
      </p:sp>
      <p:sp>
        <p:nvSpPr>
          <p:cNvPr id="29" name="Text 27"/>
          <p:cNvSpPr/>
          <p:nvPr/>
        </p:nvSpPr>
        <p:spPr>
          <a:xfrm>
            <a:off x="3108960" y="598932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Relasi :  users 1 ── N api_keys  1 ── N api_request_logs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7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FITUR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Autentikasi User — Register &amp; Login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C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CampusVehicle SaaS API Service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5806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Registrasi aman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nama, email, dan password wajib diisi; email dicek keunikan sebelum akun dibuat.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di-hash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bcrypt dengan 10 salt rounds; database tidak pernah menyimpan password asli.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terverifikasi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password dibandingkan dengan bcrypt.compare sebelum token diterbitkan.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JWT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berisi id &amp; email user, ditandatangani JWT_SECRET, kedaluwarsa sesuai JWT_EXPIRES (default 1 hari).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 konsisten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format { status, message, ... } memudahkan frontend menangani sukses maupun gagal.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29400" y="1600200"/>
            <a:ext cx="512064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0" y="181051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18105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/api/login — 200 OK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03720" y="233172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"success",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"Login berhasil",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"token": "eyJhbGciOiJIUzI1NiIs..."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03720" y="4069080"/>
            <a:ext cx="457200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42062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Token dipakai pada header: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&lt;token&gt;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03720" y="5029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inilah "kunci ruang admin" — tanpa dia, endpoint dashboard menolak akses.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7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FITUR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Manajemen API Key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C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CampusVehicle SaaS API Service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5806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key acak 32 karakter hex dari crypto.randomBytes(16), dijamin unik di level database.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Berlabel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tiap key punya label agar mudah dibedakan (mis. “Mobile App”, “Skripsi”).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Disamarkan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daftar key hanya menampilkan potongan: 8 karakter awal … 4 akhir.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Revoke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key dinonaktifkan dengan is_active = false; request berikutnya otomatis ditolak.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Metrik pemakaian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request_count dan last_used_at ter-update sendiri setiap kali key dipakai.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29400" y="1600200"/>
            <a:ext cx="512064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0" y="1810512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E0F5F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18105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/api/keys — daftar termask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03720" y="23317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"id": 1,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"label": "Mobile App",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"key_preview": "a1b2c3d4...9f8e",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"is_active": true,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"request_count": 128,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"last_used_at": "2026-08-20T..."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03720" y="513892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penuh hanya ditampilkan SEKALI saat dibuat — praktik keamanan standar industri.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7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FITUR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CRUD Data Kendaraan (Dashboard)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C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CampusVehicle SaaS API Service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5806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POST /api/vehicles menambahkan kendaraan baru beserta atribut emisi &amp; efisiensinya.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GET semua data atau detail per ID, lengkap dengan penanganan 404 bila tidak ditemukan.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PUT /api/vehicles/:id memperbarui field apa pun secara fleksibel.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DELETE menghapus data secara permanen.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Dilindungi JWT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hanya pemilik data yang sudah login boleh mengubah dataset.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58064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" y="4736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ATRIBUT YANG KELOLA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502920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kategori · tipe_kendaraan · kapasitas_cc · bahan_bakar · efisiensi_km_per_liter · emisi_co2_per_km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29400" y="1600200"/>
            <a:ext cx="512064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0" y="1810512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E6F6E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18105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9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/api/vehicles — body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03720" y="23317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"kategori": "Bus Kampus",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"tipe_kendaraan": "Isuzu Elf",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"kapasitas_cc": 2800,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"bahan_bakar": "Solar",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"efisiensi_km_per_liter": 9.5,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"emisi_co2_per_km": 271.0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03720" y="4892040"/>
            <a:ext cx="457200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5029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 Created — data langsung tersedia di public API v1.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7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FITUR 4 — PRODUK UTAMA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API v1 untuk Konsumen Eksternal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C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CampusVehicle SaaS API Service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5806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konsumen hanya bisa membaca; perubahan data tetap di tangan pemilik.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Pagination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parameter page &amp; limit (maks 100) menjaga respons tetap ringan.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saring berdasarkan kategori atau bahan_bakar, pencarian case-insensitive.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Statistik siap pakai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/stats merangkum jumlah data, rata-rata emisi &amp; efisiensi per grup.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Tanpa akun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cukup satu header x-api-key, cocok untuk aplikasi pihak ketiga.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29400" y="1600200"/>
            <a:ext cx="512064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0" y="1810512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18105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/api/v1/vehicles?page=1&amp;limit=10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03720" y="233172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"success",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"pagination":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"page": 1, "limit": 10,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"total_data": 42,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"total_pages": 5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[ ... 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03720" y="4709160"/>
            <a:ext cx="457200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48463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/api/v1/stats → agregat SQL: COUNT, AVG emisi_co2_per_km, AVG efisiensi per kategori &amp; bahan bakar.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7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KEAMANAN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Alur Verifikasi Request Public API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C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CampusVehicle SaaS API Service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10243E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63500" dist="25400" dir="5400000">
              <a:srgbClr val="8FA0B5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286000"/>
            <a:ext cx="196596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Masuk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9CB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header: x-api-key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71800" y="2029968"/>
            <a:ext cx="1600200" cy="1463040"/>
          </a:xfrm>
          <a:prstGeom prst="diamond">
            <a:avLst/>
          </a:prstGeom>
          <a:solidFill>
            <a:srgbClr val="E8F0FE"/>
          </a:solidFill>
          <a:ln w="15875">
            <a:solidFill>
              <a:srgbClr val="2E7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029968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87752" y="2647188"/>
            <a:ext cx="384048" cy="237744"/>
          </a:xfrm>
          <a:prstGeom prst="rightArrow">
            <a:avLst/>
          </a:prstGeom>
          <a:solidFill>
            <a:srgbClr val="2E7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228600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63500" dist="25400" dir="5400000">
              <a:srgbClr val="8FA0B5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2286000"/>
            <a:ext cx="196596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Validasi ke DB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cari di tabel api_keys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45152" y="2647188"/>
            <a:ext cx="384048" cy="237744"/>
          </a:xfrm>
          <a:prstGeom prst="rightArrow">
            <a:avLst/>
          </a:prstGeom>
          <a:solidFill>
            <a:srgbClr val="2E7CF6"/>
          </a:solidFill>
          <a:ln/>
        </p:spPr>
      </p:sp>
      <p:sp>
        <p:nvSpPr>
          <p:cNvPr id="16" name="Shape 14"/>
          <p:cNvSpPr/>
          <p:nvPr/>
        </p:nvSpPr>
        <p:spPr>
          <a:xfrm>
            <a:off x="7452360" y="2029968"/>
            <a:ext cx="1600200" cy="1463040"/>
          </a:xfrm>
          <a:prstGeom prst="diamond">
            <a:avLst/>
          </a:prstGeom>
          <a:solidFill>
            <a:srgbClr val="E8F0FE"/>
          </a:solidFill>
          <a:ln w="15875">
            <a:solidFill>
              <a:srgbClr val="2E7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2029968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valid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aktif?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68312" y="2647188"/>
            <a:ext cx="384048" cy="237744"/>
          </a:xfrm>
          <a:prstGeom prst="rightArrow">
            <a:avLst/>
          </a:prstGeom>
          <a:solidFill>
            <a:srgbClr val="2E7CF6"/>
          </a:solidFill>
          <a:ln/>
        </p:spPr>
      </p:sp>
      <p:sp>
        <p:nvSpPr>
          <p:cNvPr id="19" name="Shape 17"/>
          <p:cNvSpPr/>
          <p:nvPr/>
        </p:nvSpPr>
        <p:spPr>
          <a:xfrm>
            <a:off x="9509760" y="228600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E6F6E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63500" dist="25400" dir="5400000">
              <a:srgbClr val="8FA0B5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509760" y="2286000"/>
            <a:ext cx="214884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 OK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kirim data JSON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25712" y="2647188"/>
            <a:ext cx="384048" cy="237744"/>
          </a:xfrm>
          <a:prstGeom prst="rightArrow">
            <a:avLst/>
          </a:prstGeom>
          <a:solidFill>
            <a:srgbClr val="2E7CF6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0" y="3611880"/>
            <a:ext cx="237744" cy="457200"/>
          </a:xfrm>
          <a:prstGeom prst="downArrow">
            <a:avLst/>
          </a:prstGeom>
          <a:solidFill>
            <a:srgbClr val="D23B3B"/>
          </a:solidFill>
          <a:ln/>
        </p:spPr>
      </p:sp>
      <p:sp>
        <p:nvSpPr>
          <p:cNvPr id="23" name="Text 21"/>
          <p:cNvSpPr/>
          <p:nvPr/>
        </p:nvSpPr>
        <p:spPr>
          <a:xfrm>
            <a:off x="3913632" y="36758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Tidak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71800" y="411480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63500" dist="25400" dir="5400000">
              <a:srgbClr val="8FA0B5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971800" y="4114800"/>
            <a:ext cx="16002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401 Unauthorized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38160" y="3611880"/>
            <a:ext cx="237744" cy="457200"/>
          </a:xfrm>
          <a:prstGeom prst="downArrow">
            <a:avLst/>
          </a:prstGeom>
          <a:solidFill>
            <a:srgbClr val="D23B3B"/>
          </a:solidFill>
          <a:ln/>
        </p:spPr>
      </p:sp>
      <p:sp>
        <p:nvSpPr>
          <p:cNvPr id="27" name="Text 25"/>
          <p:cNvSpPr/>
          <p:nvPr/>
        </p:nvSpPr>
        <p:spPr>
          <a:xfrm>
            <a:off x="8394192" y="36758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Tidak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52360" y="411480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63500" dist="25400" dir="5400000">
              <a:srgbClr val="8FA0B5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52360" y="4114800"/>
            <a:ext cx="16002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403 Forbidden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invalid / revoked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166360"/>
            <a:ext cx="11109960" cy="1051560"/>
          </a:xfrm>
          <a:prstGeom prst="roundRect">
            <a:avLst>
              <a:gd name="adj" fmla="val 6087"/>
            </a:avLst>
          </a:prstGeom>
          <a:solidFill>
            <a:srgbClr val="10243E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516636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Efek samping setiap request berhasil 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CB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request_count +1  ·  last_used_at diperbarui  ·  aktivitas dicatat ke api_request_logs (endpoint, method, status_code, ip_address).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7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KEAMANAN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Empat Lapis Perlindungan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C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CampusVehicle SaaS API Service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2679192" cy="3017520"/>
          </a:xfrm>
          <a:prstGeom prst="roundRect">
            <a:avLst>
              <a:gd name="adj" fmla="val 2389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17904" y="1920240"/>
            <a:ext cx="731520" cy="731520"/>
          </a:xfrm>
          <a:prstGeom prst="ellipse">
            <a:avLst/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Hashing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22219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bcryptjs, 10 salt rounds. Password asli tak pernah disimpan; pencocokan lewat bcrypt.compare.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10712" y="1645920"/>
            <a:ext cx="2679192" cy="3017520"/>
          </a:xfrm>
          <a:prstGeom prst="roundRect">
            <a:avLst>
              <a:gd name="adj" fmla="val 2389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79976" y="1920240"/>
            <a:ext cx="731520" cy="731520"/>
          </a:xfrm>
          <a:prstGeom prst="ellipse">
            <a:avLst/>
          </a:prstGeom>
          <a:solidFill>
            <a:srgbClr val="E0F5F8"/>
          </a:solidFill>
          <a:ln/>
        </p:spPr>
      </p:sp>
      <p:sp>
        <p:nvSpPr>
          <p:cNvPr id="15" name="Text 13"/>
          <p:cNvSpPr/>
          <p:nvPr/>
        </p:nvSpPr>
        <p:spPr>
          <a:xfrm>
            <a:off x="4379976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47872" y="278892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JWT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639312" y="3200400"/>
            <a:ext cx="22219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Ditandatangani JWT_SECRET dari .env, kedaluwarsa otomatis (default 1 hari) — sesi tidak bertahan selamanya.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72784" y="1645920"/>
            <a:ext cx="2679192" cy="3017520"/>
          </a:xfrm>
          <a:prstGeom prst="roundRect">
            <a:avLst>
              <a:gd name="adj" fmla="val 2389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42048" y="1920240"/>
            <a:ext cx="731520" cy="731520"/>
          </a:xfrm>
          <a:prstGeom prst="ellipse">
            <a:avLst/>
          </a:prstGeom>
          <a:solidFill>
            <a:srgbClr val="E6F6EF"/>
          </a:solidFill>
          <a:ln/>
        </p:spPr>
      </p:sp>
      <p:sp>
        <p:nvSpPr>
          <p:cNvPr id="20" name="Text 18"/>
          <p:cNvSpPr/>
          <p:nvPr/>
        </p:nvSpPr>
        <p:spPr>
          <a:xfrm>
            <a:off x="7242048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9944" y="278892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Key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01384" y="3200400"/>
            <a:ext cx="22219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Acak 32-hex, unik, bisa di-revoke kapan saja, dan hanya ditampilkan penuh satu kali saat pembuatan.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34856" y="1645920"/>
            <a:ext cx="2679192" cy="3017520"/>
          </a:xfrm>
          <a:prstGeom prst="roundRect">
            <a:avLst>
              <a:gd name="adj" fmla="val 2389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104120" y="1920240"/>
            <a:ext cx="731520" cy="731520"/>
          </a:xfrm>
          <a:prstGeom prst="ellipse">
            <a:avLst/>
          </a:prstGeom>
          <a:solidFill>
            <a:srgbClr val="FCF1DF"/>
          </a:solidFill>
          <a:ln/>
        </p:spPr>
      </p:sp>
      <p:sp>
        <p:nvSpPr>
          <p:cNvPr id="25" name="Text 23"/>
          <p:cNvSpPr/>
          <p:nvPr/>
        </p:nvSpPr>
        <p:spPr>
          <a:xfrm>
            <a:off x="1010412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7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272016" y="278892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363456" y="3200400"/>
            <a:ext cx="22219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Setiap panggilan public API tercatat: endpoint, method, status code, dan IP address peminta.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983480"/>
            <a:ext cx="11109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4983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Prinsipnya sederhana :  </a:t>
            </a:r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rahasia disimpan di environment variable (.env), tidak pernah hard-code di dalam kode sumber.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7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Siap Online — Vercel + Supabase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C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CampusVehicle SaaS API Service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48640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7830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— Hosting 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219456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 function dari index.js lewat @vercel/node.</a:t>
            </a:r>
            <a:endParaRPr lang="en-US" sz="12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Semua route dialihkan ke satu entry point.</a:t>
            </a:r>
            <a:endParaRPr lang="en-US" sz="12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ke GitHub → deploy otomatis.</a:t>
            </a:r>
            <a:endParaRPr lang="en-US" sz="12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NODE_ENV = production menonaktifkan sequelize.sync() otomatis.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48640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7830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— Database Cloud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56248" y="219456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terkelola, diakses via DATABASE_URL.</a:t>
            </a:r>
            <a:endParaRPr lang="en-US" sz="12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Koneksi wajib SSL (rejectUnauthorized: false).</a:t>
            </a:r>
            <a:endParaRPr lang="en-US" sz="12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 otomatis ke PostgreSQL lokal saat develop.</a:t>
            </a:r>
            <a:endParaRPr lang="en-US" sz="12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string URL dibersihkan agar tak bentrok opsi Sequelize.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1201400" cy="1325880"/>
          </a:xfrm>
          <a:prstGeom prst="roundRect">
            <a:avLst>
              <a:gd name="adj" fmla="val 4828"/>
            </a:avLst>
          </a:prstGeom>
          <a:solidFill>
            <a:srgbClr val="10243E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F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VARIABEL LINGKUNGAN (.env)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5120640"/>
            <a:ext cx="1719072" cy="438912"/>
          </a:xfrm>
          <a:prstGeom prst="roundRect">
            <a:avLst>
              <a:gd name="adj" fmla="val 20833"/>
            </a:avLst>
          </a:prstGeom>
          <a:solidFill>
            <a:srgbClr val="173154"/>
          </a:solidFill>
          <a:ln w="12700">
            <a:solidFill>
              <a:srgbClr val="2C4A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120640"/>
            <a:ext cx="1719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DATABASE_URL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16352" y="5120640"/>
            <a:ext cx="1508760" cy="438912"/>
          </a:xfrm>
          <a:prstGeom prst="roundRect">
            <a:avLst>
              <a:gd name="adj" fmla="val 20833"/>
            </a:avLst>
          </a:prstGeom>
          <a:solidFill>
            <a:srgbClr val="173154"/>
          </a:solidFill>
          <a:ln w="12700">
            <a:solidFill>
              <a:srgbClr val="2C4A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16352" y="512064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JWT_SECRET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53712" y="5120640"/>
            <a:ext cx="1613916" cy="438912"/>
          </a:xfrm>
          <a:prstGeom prst="roundRect">
            <a:avLst>
              <a:gd name="adj" fmla="val 20833"/>
            </a:avLst>
          </a:prstGeom>
          <a:solidFill>
            <a:srgbClr val="173154"/>
          </a:solidFill>
          <a:ln w="12700">
            <a:solidFill>
              <a:srgbClr val="2C4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5120640"/>
            <a:ext cx="16139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JWT_EXPIRES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96228" y="5120640"/>
            <a:ext cx="877824" cy="438912"/>
          </a:xfrm>
          <a:prstGeom prst="roundRect">
            <a:avLst>
              <a:gd name="adj" fmla="val 20833"/>
            </a:avLst>
          </a:prstGeom>
          <a:solidFill>
            <a:srgbClr val="173154"/>
          </a:solidFill>
          <a:ln w="12700">
            <a:solidFill>
              <a:srgbClr val="2C4A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96228" y="5120640"/>
            <a:ext cx="8778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94092" y="5120640"/>
            <a:ext cx="38359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9CB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semua rahasia tinggal di environment, aman dari repo publik.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7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Dokumentasi Endpoint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C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CampusVehicle SaaS API Service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1099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  <a:gridCol w="1051560"/>
                <a:gridCol w="66294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METHOD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ENDPOINT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DESKRIPSI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C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/api/register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Registrasi akun baru (nama, email, password)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C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/api/login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Login, mengembalikan token JWT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C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/api/keys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JWT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Membuat API key baru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9F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/api/keys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JWT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Melihat daftar API key (ter-mask)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23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/api/keys/:id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JWT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Menonaktifkan (revoke) API key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9F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/api/vehicles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JWT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Melihat seluruh data kendaraan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9F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/api/vehicles/:id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JWT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Detail satu kendaraan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C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/api/vehicles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JWT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Menambah data kendaraan baru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774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/api/vehicles/:id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JWT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Memperbarui data kendaraan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23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/api/vehicles/:id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JWT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Menghapus data kendaraan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9F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/api/v1/vehicles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x-api-key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 API: daftar kendaraan + pagination &amp; filter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9F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/api/v1/vehicles/:id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x-api-key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 API: detail satu kendaraan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9F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/api/v1/stats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x-api-key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 API: statistik agregat dataset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7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PENUTUP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Kesimpulan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C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CampusVehicle SaaS API Service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64922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Produk selesai &amp; fokus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REST API SaaS data kendaraan kampus berjalan end-to-end: dari registrasi sampai konsumsi data eksternal.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Arsitektur bersih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pola MVC memisahkan routing, logika bisnis, dan akses data sehingga mudah dikembangkan.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Keamanan berlapis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bcrypt untuk password, JWT untuk sesi admin, API key untuk konsumen, plus audit log setiap request.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Siap produksi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ter-deploy di Vercel dengan database Supabase; rahasia dikelola lewat environment variable.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024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Nilai bisnis nyata 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pemilik data punya kontrol penuh, konsumen mendapat akses terukur dan aman tanpa menyentuh database.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1572768"/>
            <a:ext cx="4434840" cy="4297680"/>
          </a:xfrm>
          <a:prstGeom prst="roundRect">
            <a:avLst>
              <a:gd name="adj" fmla="val 1489"/>
            </a:avLst>
          </a:prstGeom>
          <a:solidFill>
            <a:srgbClr val="10243E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88900" dist="25400" dir="5400000">
              <a:srgbClr val="8FA0B5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0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F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PROYEK DALAM ANGKA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89520" y="2240280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641080" y="22402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 REST aktif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589520" y="3136392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641080" y="313639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tabel database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589520" y="4032504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641080" y="4032504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mekanisme autentikasi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589520" y="4928616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641080" y="4928616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 JSON terstandar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2E7CF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645920"/>
            <a:ext cx="3657600" cy="3657600"/>
          </a:xfrm>
          <a:prstGeom prst="ellipse">
            <a:avLst/>
          </a:prstGeom>
          <a:solidFill>
            <a:srgbClr val="06B6D4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Terima Kasih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6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CampusVehicle SaaS API Service — Pengembangan Web Service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0690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github.com/bagasadit123/220_Project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Pengembangan Web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CampusVehicle SaaS API Service</dc:title>
  <dc:subject>PptxGenJS Presentation</dc:subject>
  <dc:creator>220_Project</dc:creator>
  <cp:lastModifiedBy>220_Project</cp:lastModifiedBy>
  <cp:revision>1</cp:revision>
  <dcterms:created xsi:type="dcterms:W3CDTF">2026-08-25T16:49:07Z</dcterms:created>
  <dcterms:modified xsi:type="dcterms:W3CDTF">2026-08-25T16:49:07Z</dcterms:modified>
</cp:coreProperties>
</file>